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5"/>
    <p:sldMasterId id="2147483684" r:id="rId6"/>
    <p:sldMasterId id="2147483708" r:id="rId7"/>
    <p:sldMasterId id="2147483720" r:id="rId8"/>
    <p:sldMasterId id="2147483762" r:id="rId9"/>
  </p:sldMasterIdLst>
  <p:notesMasterIdLst>
    <p:notesMasterId r:id="rId15"/>
  </p:notesMasterIdLst>
  <p:sldIdLst>
    <p:sldId id="266" r:id="rId10"/>
    <p:sldId id="271" r:id="rId11"/>
    <p:sldId id="272" r:id="rId12"/>
    <p:sldId id="273" r:id="rId13"/>
    <p:sldId id="274" r:id="rId14"/>
  </p:sldIdLst>
  <p:sldSz cx="9144000" cy="6858000" type="screen4x3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0000"/>
    <a:srgbClr val="C41F04"/>
    <a:srgbClr val="E10000"/>
    <a:srgbClr val="CD0000"/>
    <a:srgbClr val="8E00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5126" autoAdjust="0"/>
  </p:normalViewPr>
  <p:slideViewPr>
    <p:cSldViewPr>
      <p:cViewPr varScale="1">
        <p:scale>
          <a:sx n="55" d="100"/>
          <a:sy n="55" d="100"/>
        </p:scale>
        <p:origin x="811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30" d="100"/>
        <a:sy n="130" d="100"/>
      </p:scale>
      <p:origin x="0" y="-66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slide" Target="slides/slide4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3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1.xml"/><Relationship Id="rId19" Type="http://schemas.openxmlformats.org/officeDocument/2006/relationships/tableStyles" Target="tableStyles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5.xml"/><Relationship Id="rId14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D22397-19D0-43F4-884F-DD192CCA8686}" type="datetimeFigureOut">
              <a:rPr lang="es-PA" smtClean="0"/>
              <a:t>06/21/2026</a:t>
            </a:fld>
            <a:endParaRPr lang="es-P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90ED58-E70D-4DA0-B0A1-68F16CF969FA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96895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P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90ED58-E70D-4DA0-B0A1-68F16CF969FA}" type="slidenum">
              <a:rPr lang="es-PA" smtClean="0"/>
              <a:t>1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3676425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718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173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16457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4272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1591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812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1363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0353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8021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38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3723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2434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54430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4844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33346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611397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5934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082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872999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66082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239533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2771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131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44011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14508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0622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3964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91846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453987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38287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5893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84558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69494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0830396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81121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08371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02194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02784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2061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3799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552909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68778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08744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E92C4EAE-EEEA-4B0B-8FE1-CBB9127FF83B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/>
          <a:lstStyle/>
          <a:p>
            <a:fld id="{2B23A4EE-5712-40FE-9C4B-4894C5B14467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32089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714988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912588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535061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388730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2418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75393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03316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415284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41897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918143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04030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48177" y="3771174"/>
            <a:ext cx="5540814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15629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3124201"/>
            <a:ext cx="6620968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23879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1974594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DFF08F-DC6B-4601-B491-B0F83F6DD2DA}" type="datetimeFigureOut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566807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534285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4C9D8D-03E1-4DA5-B5D0-284F89CF2A81}" type="datetimeFigureOut">
              <a:rPr lang="es-PA" smtClean="0">
                <a:solidFill>
                  <a:prstClr val="black"/>
                </a:solidFill>
              </a:rPr>
              <a:pPr/>
              <a:t>06/21/2026</a:t>
            </a:fld>
            <a:endParaRPr lang="es-PA">
              <a:solidFill>
                <a:prstClr val="black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>
              <a:solidFill>
                <a:prstClr val="black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949DC-92D9-4F31-B354-335DFB0452AD}" type="slidenum">
              <a:rPr lang="es-PA" smtClean="0">
                <a:solidFill>
                  <a:prstClr val="black"/>
                </a:solidFill>
              </a:rPr>
              <a:pPr/>
              <a:t>‹Nº›</a:t>
            </a:fld>
            <a:endParaRPr lang="es-PA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1875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slideLayout" Target="../slideLayouts/slideLayout57.xml"/><Relationship Id="rId18" Type="http://schemas.openxmlformats.org/officeDocument/2006/relationships/theme" Target="../theme/theme5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slideLayout" Target="../slideLayouts/slideLayout56.xml"/><Relationship Id="rId17" Type="http://schemas.openxmlformats.org/officeDocument/2006/relationships/slideLayout" Target="../slideLayouts/slideLayout61.xml"/><Relationship Id="rId2" Type="http://schemas.openxmlformats.org/officeDocument/2006/relationships/slideLayout" Target="../slideLayouts/slideLayout46.xml"/><Relationship Id="rId16" Type="http://schemas.openxmlformats.org/officeDocument/2006/relationships/slideLayout" Target="../slideLayouts/slideLayout60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Relationship Id="rId14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4890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PMO-MON-102</a:t>
            </a:r>
          </a:p>
        </p:txBody>
      </p:sp>
    </p:spTree>
    <p:extLst>
      <p:ext uri="{BB962C8B-B14F-4D97-AF65-F5344CB8AC3E}">
        <p14:creationId xmlns:p14="http://schemas.microsoft.com/office/powerpoint/2010/main" val="2208288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9188823" cy="6858000"/>
          </a:xfrm>
          <a:prstGeom prst="rect">
            <a:avLst/>
          </a:prstGeom>
        </p:spPr>
      </p:pic>
      <p:sp>
        <p:nvSpPr>
          <p:cNvPr id="3" name="Rectangle 2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2557786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/>
          <p:cNvPicPr>
            <a:picLocks noChangeAspect="1"/>
          </p:cNvPicPr>
          <p:nvPr/>
        </p:nvPicPr>
        <p:blipFill rotWithShape="1">
          <a:blip r:embed="rId13"/>
          <a:srcRect l="365"/>
          <a:stretch/>
        </p:blipFill>
        <p:spPr>
          <a:xfrm>
            <a:off x="0" y="0"/>
            <a:ext cx="9173102" cy="6858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251520" y="6237312"/>
            <a:ext cx="16433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PMO-MON-101</a:t>
            </a:r>
          </a:p>
        </p:txBody>
      </p:sp>
    </p:spTree>
    <p:extLst>
      <p:ext uri="{BB962C8B-B14F-4D97-AF65-F5344CB8AC3E}">
        <p14:creationId xmlns:p14="http://schemas.microsoft.com/office/powerpoint/2010/main" val="154185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7000"/>
                </a:schemeClr>
              </a:gs>
              <a:gs pos="69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4000"/>
                </a:schemeClr>
              </a:gs>
              <a:gs pos="73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0000"/>
                </a:schemeClr>
              </a:gs>
              <a:gs pos="66000">
                <a:schemeClr val="accent1">
                  <a:lumMod val="60000"/>
                  <a:lumOff val="40000"/>
                  <a:alpha val="0"/>
                </a:schemeClr>
              </a:gs>
              <a:gs pos="31000">
                <a:schemeClr val="accent1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11000"/>
                </a:schemeClr>
              </a:gs>
              <a:gs pos="75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alpha val="8000"/>
                </a:schemeClr>
              </a:gs>
              <a:gs pos="72000">
                <a:schemeClr val="accent1">
                  <a:lumMod val="60000"/>
                  <a:lumOff val="40000"/>
                  <a:alpha val="0"/>
                </a:schemeClr>
              </a:gs>
              <a:gs pos="36000">
                <a:schemeClr val="accent1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303438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6" r:id="rId14"/>
    <p:sldLayoutId id="2147483777" r:id="rId15"/>
    <p:sldLayoutId id="2147483778" r:id="rId16"/>
    <p:sldLayoutId id="214748377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691680" y="620688"/>
            <a:ext cx="60203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>
                <a:solidFill>
                  <a:prstClr val="white"/>
                </a:solidFill>
              </a:rPr>
              <a:t>RETROSPECTIVA DEL PROYECTO</a:t>
            </a:r>
            <a:endParaRPr lang="en-US" sz="2800" b="1" dirty="0">
              <a:solidFill>
                <a:prstClr val="white"/>
              </a:solidFill>
            </a:endParaRPr>
          </a:p>
        </p:txBody>
      </p:sp>
      <p:sp>
        <p:nvSpPr>
          <p:cNvPr id="3" name="CuadroTexto 1"/>
          <p:cNvSpPr txBox="1"/>
          <p:nvPr/>
        </p:nvSpPr>
        <p:spPr>
          <a:xfrm>
            <a:off x="1403648" y="4293096"/>
            <a:ext cx="602039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A" sz="2800" b="1" dirty="0">
                <a:solidFill>
                  <a:prstClr val="white"/>
                </a:solidFill>
              </a:rPr>
              <a:t>Generación Óptima de Horarios Académicos (SGDHA)</a:t>
            </a:r>
          </a:p>
          <a:p>
            <a:pPr algn="ctr"/>
            <a:r>
              <a:rPr lang="es-PA" sz="2800" b="1">
                <a:solidFill>
                  <a:prstClr val="white"/>
                </a:solidFill>
              </a:rPr>
              <a:t>06/07/2026</a:t>
            </a:r>
            <a:endParaRPr lang="es-PA" sz="2800" b="1" dirty="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5826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67544" y="1412776"/>
            <a:ext cx="4243469" cy="29546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AGENDA</a:t>
            </a:r>
          </a:p>
          <a:p>
            <a:endParaRPr lang="es-PA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Qué estamos haciendo bien?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Qué podemos hacer mejor?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Personas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Relaciones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Procesos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s-PA" sz="2000" dirty="0"/>
              <a:t>Herramientas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PA" sz="2000" dirty="0"/>
              <a:t>Lecciones aprendidas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4243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096DB-8D1D-394B-FFD2-6EBFBF8E28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48D5820-690C-6A0A-ECD7-C6FD6079B0EB}"/>
              </a:ext>
            </a:extLst>
          </p:cNvPr>
          <p:cNvSpPr txBox="1"/>
          <p:nvPr/>
        </p:nvSpPr>
        <p:spPr>
          <a:xfrm>
            <a:off x="1331640" y="692696"/>
            <a:ext cx="55867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estamos haciendo bien?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400C849-99D9-B315-E77C-535576BFF8C7}"/>
              </a:ext>
            </a:extLst>
          </p:cNvPr>
          <p:cNvSpPr txBox="1"/>
          <p:nvPr/>
        </p:nvSpPr>
        <p:spPr>
          <a:xfrm>
            <a:off x="1331640" y="1412776"/>
            <a:ext cx="6912768" cy="29481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Se completó el 100% del backlog planificado (16 historias de usuario, 6 Epics) al cierre del proyecto.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El motor CSP generó horarios válidos en 32s promedio, muy por debajo del umbral de 50s.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Optimización de frontend: reducción del 75% en el tiempo de carga de horarios (3.2s → 0.8s).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dirty="0"/>
              <a:t>Corrección del 100% de los 12 defectos detectados a lo largo de los 4 sprints.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054737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2D98D-547B-9004-A2C9-FE384A9AA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77606742-7E11-D1BC-6078-B1A46D729E4D}"/>
              </a:ext>
            </a:extLst>
          </p:cNvPr>
          <p:cNvSpPr txBox="1"/>
          <p:nvPr/>
        </p:nvSpPr>
        <p:spPr>
          <a:xfrm>
            <a:off x="1331640" y="692696"/>
            <a:ext cx="53238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altLang="es-PE" sz="2800" b="1" dirty="0"/>
              <a:t>¿</a:t>
            </a:r>
            <a:r>
              <a:rPr lang="es-PA" sz="2800" b="1" dirty="0"/>
              <a:t>Qué podemos hacer mejor?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170DF309-0436-2EBF-B615-14ED05A3D8CD}"/>
              </a:ext>
            </a:extLst>
          </p:cNvPr>
          <p:cNvSpPr txBox="1"/>
          <p:nvPr/>
        </p:nvSpPr>
        <p:spPr>
          <a:xfrm>
            <a:off x="1331640" y="1412776"/>
            <a:ext cx="763284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Personas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Distribuir mejor la carga: 3 de 4 sprints concentraron trabajo al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Evitar que una sola persona concentre tareas técnicas críticas.</a:t>
            </a:r>
          </a:p>
          <a:p>
            <a:r>
              <a:rPr lang="es-ES" b="1" dirty="0"/>
              <a:t>Relaciones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Coordinar con QA desde el inicio, no solo en el último sprint.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Anticipar con usuarios los casos límite antes de programar.</a:t>
            </a:r>
          </a:p>
          <a:p>
            <a:r>
              <a:rPr lang="es-ES" b="1" dirty="0"/>
              <a:t>Procesos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Definir criterios de aceptación detallados desde el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Distribuir las pruebas unitarias en todos los sprints, no al final.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Actualizar la documentación de revisión y retrospectiva en cada sprint.</a:t>
            </a:r>
          </a:p>
          <a:p>
            <a:r>
              <a:rPr lang="es-ES" b="1" dirty="0"/>
              <a:t>Herramientas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Usar el Burndown Chart de forma proactiva desde el inicio.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dirty="0"/>
              <a:t>Integrar Cypress y pytest desde el inicio, con metas por sprint.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407773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C9D33-AA5A-C6BE-5B9F-2B05C2B76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11423F9-5507-8BBA-8610-20511466BE7C}"/>
              </a:ext>
            </a:extLst>
          </p:cNvPr>
          <p:cNvSpPr txBox="1"/>
          <p:nvPr/>
        </p:nvSpPr>
        <p:spPr>
          <a:xfrm>
            <a:off x="1331640" y="692696"/>
            <a:ext cx="35397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A" sz="2800" b="1" dirty="0"/>
              <a:t>Lecciones Aprendidas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6658B6-2106-5E09-1702-AE801E59B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640" y="1556792"/>
            <a:ext cx="6408712" cy="24980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Definir criterios de aceptación detallados desde el primer sprint, no sobre la marcha.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Planificar y distribuir las pruebas unitarias en todos los sprints, nunca al final.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Anticipar los riesgos técnicos de alta complejidad con spikes antes de comprometer fechas.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Mantener actualizada la documentación de cada sprint al cierre, no acumularla para el final. 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s-PE" altLang="es-PE" dirty="0"/>
              <a:t>Distribuir el trabajo de forma uniforme durante todo el sprint, evitando la concentración hacia el final. </a:t>
            </a:r>
          </a:p>
        </p:txBody>
      </p:sp>
    </p:spTree>
    <p:extLst>
      <p:ext uri="{BB962C8B-B14F-4D97-AF65-F5344CB8AC3E}">
        <p14:creationId xmlns:p14="http://schemas.microsoft.com/office/powerpoint/2010/main" val="2874161032"/>
      </p:ext>
    </p:extLst>
  </p:cSld>
  <p:clrMapOvr>
    <a:masterClrMapping/>
  </p:clrMapOvr>
</p:sld>
</file>

<file path=ppt/theme/_rels/them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/Relationships>
</file>

<file path=ppt/theme/theme1.xml><?xml version="1.0" encoding="utf-8"?>
<a:theme xmlns:a="http://schemas.openxmlformats.org/drawingml/2006/main" name="1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2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3.xml><?xml version="1.0" encoding="utf-8"?>
<a:theme xmlns:a="http://schemas.openxmlformats.org/drawingml/2006/main" name="2_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F4D2D2C8-2F4E-4B5A-9940-CB63F3447BE0}"/>
    </a:ext>
  </a:extLst>
</a:theme>
</file>

<file path=ppt/theme/theme4.xml><?xml version="1.0" encoding="utf-8"?>
<a:theme xmlns:a="http://schemas.openxmlformats.org/drawingml/2006/main" name="1_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 PPT_Grupo Rey_Actualizada_1 [solo lectura]" id="{533A53B2-B7D8-4C76-81B7-5CC4BE25A0E7}" vid="{502E3936-DC63-43D3-BC3E-45E2DBA39A5A}"/>
    </a:ext>
  </a:extLst>
</a:theme>
</file>

<file path=ppt/theme/theme5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EE5818"/>
      </a:dk2>
      <a:lt2>
        <a:srgbClr val="EBEBEB"/>
      </a:lt2>
      <a:accent1>
        <a:srgbClr val="F5A408"/>
      </a:accent1>
      <a:accent2>
        <a:srgbClr val="FA731A"/>
      </a:accent2>
      <a:accent3>
        <a:srgbClr val="AB9281"/>
      </a:accent3>
      <a:accent4>
        <a:srgbClr val="A18CD0"/>
      </a:accent4>
      <a:accent5>
        <a:srgbClr val="8EBBD2"/>
      </a:accent5>
      <a:accent6>
        <a:srgbClr val="ACC995"/>
      </a:accent6>
      <a:hlink>
        <a:srgbClr val="FAC96A"/>
      </a:hlink>
      <a:folHlink>
        <a:srgbClr val="FCDB9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04000"/>
                <a:satMod val="128000"/>
                <a:lumMod val="104000"/>
              </a:schemeClr>
            </a:gs>
            <a:gs pos="100000">
              <a:schemeClr val="phClr">
                <a:tint val="100000"/>
                <a:shade val="76000"/>
                <a:hueMod val="89000"/>
                <a:satMod val="164000"/>
                <a:lumMod val="68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42000"/>
                <a:hueMod val="42000"/>
                <a:satMod val="124000"/>
                <a:lumMod val="62000"/>
              </a:schemeClr>
              <a:schemeClr val="phClr">
                <a:tint val="96000"/>
                <a:satMod val="13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5A2F9111-B2DB-470C-BA56-608F9B658826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124E24CAF14D46B2DD609ACFD84C07" ma:contentTypeVersion="0" ma:contentTypeDescription="Create a new document." ma:contentTypeScope="" ma:versionID="9971b3b784abbe199b171e233c6d3889">
  <xsd:schema xmlns:xsd="http://www.w3.org/2001/XMLSchema" xmlns:xs="http://www.w3.org/2001/XMLSchema" xmlns:p="http://schemas.microsoft.com/office/2006/metadata/properties" xmlns:ns2="01eb4bd6-a8ff-4439-b7eb-fe0a650fbd8a" targetNamespace="http://schemas.microsoft.com/office/2006/metadata/properties" ma:root="true" ma:fieldsID="9a36e787f936117f0a8f63b0cc0186e7" ns2:_="">
    <xsd:import namespace="01eb4bd6-a8ff-4439-b7eb-fe0a650fbd8a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eb4bd6-a8ff-4439-b7eb-fe0a650fbd8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Identificador persistente" ma:description="Mantener el identificador al agregar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01eb4bd6-a8ff-4439-b7eb-fe0a650fbd8a">FWJASSSE55TN-275-90</_dlc_DocId>
    <_dlc_DocIdUrl xmlns="01eb4bd6-a8ff-4439-b7eb-fe0a650fbd8a">
      <Url>https://portal.smrey.net/areas/it/_layouts/15/DocIdRedir.aspx?ID=FWJASSSE55TN-275-90</Url>
      <Description>FWJASSSE55TN-275-90</Description>
    </_dlc_DocIdUrl>
  </documentManagement>
</p:properties>
</file>

<file path=customXml/item4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Version=15.0.0.0,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Version=15.0.0.0,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761A4983-4A93-4B3A-8900-9EB737E827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AB431C-329B-4A82-A797-4BEB23E904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1eb4bd6-a8ff-4439-b7eb-fe0a650fbd8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EA82C02-33B1-44E3-8205-C641671E37A6}">
  <ds:schemaRefs>
    <ds:schemaRef ds:uri="http://schemas.microsoft.com/office/2006/documentManagement/types"/>
    <ds:schemaRef ds:uri="http://schemas.microsoft.com/office/infopath/2007/PartnerControls"/>
    <ds:schemaRef ds:uri="http://purl.org/dc/terms/"/>
    <ds:schemaRef ds:uri="http://purl.org/dc/elements/1.1/"/>
    <ds:schemaRef ds:uri="http://www.w3.org/XML/1998/namespace"/>
    <ds:schemaRef ds:uri="01eb4bd6-a8ff-4439-b7eb-fe0a650fbd8a"/>
    <ds:schemaRef ds:uri="http://schemas.microsoft.com/office/2006/metadata/properties"/>
    <ds:schemaRef ds:uri="http://schemas.openxmlformats.org/package/2006/metadata/core-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F6403FF3-E664-4B75-AE82-10E83625546A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9219</TotalTime>
  <Words>308</Words>
  <Application>Microsoft Office PowerPoint</Application>
  <PresentationFormat>Presentación en pantalla (4:3)</PresentationFormat>
  <Paragraphs>38</Paragraphs>
  <Slides>5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5</vt:i4>
      </vt:variant>
    </vt:vector>
  </HeadingPairs>
  <TitlesOfParts>
    <vt:vector size="14" baseType="lpstr">
      <vt:lpstr>Arial</vt:lpstr>
      <vt:lpstr>Calibri</vt:lpstr>
      <vt:lpstr>Century Gothic</vt:lpstr>
      <vt:lpstr>Wingdings 3</vt:lpstr>
      <vt:lpstr>1_Tema de Office</vt:lpstr>
      <vt:lpstr>Diseño personalizado</vt:lpstr>
      <vt:lpstr>2_Tema de Office</vt:lpstr>
      <vt:lpstr>1_Diseño personalizado</vt:lpstr>
      <vt:lpstr>Ion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hbravo-consultorge@innovacion.gob.pa</dc:creator>
  <cp:lastModifiedBy>Fabrizio Rafael Carpio</cp:lastModifiedBy>
  <cp:revision>255</cp:revision>
  <dcterms:created xsi:type="dcterms:W3CDTF">2012-03-27T19:44:46Z</dcterms:created>
  <dcterms:modified xsi:type="dcterms:W3CDTF">2026-06-21T22:52:03Z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0x010100A5124E24CAF14D46B2DD609ACFD84C07</vt:lpwstr>
  </property>
  <property fmtid="{D5CDD505-2E9C-101B-9397-08002B2CF9AE}" pid="3" name="_dlc_DocIdItemGuid">
    <vt:lpwstr>7586f2f4-d20d-492b-9868-1bee41335ca5</vt:lpwstr>
  </property>
</Properties>
</file>