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5"/>
    <p:sldMasterId id="2147483684" r:id="rId6"/>
    <p:sldMasterId id="2147483708" r:id="rId7"/>
    <p:sldMasterId id="2147483720" r:id="rId8"/>
    <p:sldMasterId id="2147483858" r:id="rId9"/>
  </p:sldMasterIdLst>
  <p:notesMasterIdLst>
    <p:notesMasterId r:id="rId14"/>
  </p:notesMasterIdLst>
  <p:sldIdLst>
    <p:sldId id="266" r:id="rId10"/>
    <p:sldId id="271" r:id="rId11"/>
    <p:sldId id="272" r:id="rId12"/>
    <p:sldId id="273" r:id="rId13"/>
  </p:sldIdLst>
  <p:sldSz cx="9144000" cy="6858000" type="screen4x3"/>
  <p:notesSz cx="6858000" cy="9144000"/>
  <p:defaultTextStyle>
    <a:defPPr>
      <a:defRPr lang="es-P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0000"/>
    <a:srgbClr val="C41F04"/>
    <a:srgbClr val="E10000"/>
    <a:srgbClr val="CD0000"/>
    <a:srgbClr val="8E00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5126" autoAdjust="0"/>
  </p:normalViewPr>
  <p:slideViewPr>
    <p:cSldViewPr>
      <p:cViewPr varScale="1">
        <p:scale>
          <a:sx n="55" d="100"/>
          <a:sy n="55" d="100"/>
        </p:scale>
        <p:origin x="811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4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30" d="100"/>
        <a:sy n="130" d="100"/>
      </p:scale>
      <p:origin x="0" y="-666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4.xml"/><Relationship Id="rId13" Type="http://schemas.openxmlformats.org/officeDocument/2006/relationships/slide" Target="slides/slide4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3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15" Type="http://schemas.openxmlformats.org/officeDocument/2006/relationships/presProps" Target="presProps.xml"/><Relationship Id="rId10" Type="http://schemas.openxmlformats.org/officeDocument/2006/relationships/slide" Target="slides/slide1.xml"/><Relationship Id="rId4" Type="http://schemas.openxmlformats.org/officeDocument/2006/relationships/customXml" Target="../customXml/item4.xml"/><Relationship Id="rId9" Type="http://schemas.openxmlformats.org/officeDocument/2006/relationships/slideMaster" Target="slideMasters/slideMaster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D22397-19D0-43F4-884F-DD192CCA8686}" type="datetimeFigureOut">
              <a:rPr lang="es-PA" smtClean="0"/>
              <a:t>06/21/2026</a:t>
            </a:fld>
            <a:endParaRPr lang="es-P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90ED58-E70D-4DA0-B0A1-68F16CF969FA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3096895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90ED58-E70D-4DA0-B0A1-68F16CF969FA}" type="slidenum">
              <a:rPr lang="es-PA" smtClean="0"/>
              <a:t>1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13676425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1718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3173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6457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4272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1591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6812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1363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0353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8021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3817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3723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2434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54430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48440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33346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61139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59347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50822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87299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A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66082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39533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42771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131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544011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14508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0622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239640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091846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453987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38287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358930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684558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769494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083039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481121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508371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021944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402784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52061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937996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552909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A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268778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08744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320895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022782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658684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609370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391705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50877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463871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726116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919941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870368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29082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3109632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6/21/2026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667975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6/21/2026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6837657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6/21/2026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128767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801891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349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slideLayout" Target="../slideLayouts/slideLayout57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6.xml"/><Relationship Id="rId17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6" Type="http://schemas.openxmlformats.org/officeDocument/2006/relationships/slideLayout" Target="../slideLayouts/slideLayout60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5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slideLayout" Target="../slideLayouts/slideLayout5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91888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890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13"/>
          <a:srcRect l="365"/>
          <a:stretch/>
        </p:blipFill>
        <p:spPr>
          <a:xfrm>
            <a:off x="0" y="0"/>
            <a:ext cx="9173102" cy="6858000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251520" y="6237312"/>
            <a:ext cx="16433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PMO-MON-101</a:t>
            </a:r>
          </a:p>
        </p:txBody>
      </p:sp>
    </p:spTree>
    <p:extLst>
      <p:ext uri="{BB962C8B-B14F-4D97-AF65-F5344CB8AC3E}">
        <p14:creationId xmlns:p14="http://schemas.microsoft.com/office/powerpoint/2010/main" val="2208288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9188823" cy="6858000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251520" y="6237312"/>
            <a:ext cx="16433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PMO-MON-101</a:t>
            </a:r>
          </a:p>
        </p:txBody>
      </p:sp>
    </p:spTree>
    <p:extLst>
      <p:ext uri="{BB962C8B-B14F-4D97-AF65-F5344CB8AC3E}">
        <p14:creationId xmlns:p14="http://schemas.microsoft.com/office/powerpoint/2010/main" val="2557786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13"/>
          <a:srcRect l="365"/>
          <a:stretch/>
        </p:blipFill>
        <p:spPr>
          <a:xfrm>
            <a:off x="0" y="0"/>
            <a:ext cx="9173102" cy="6858000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251520" y="6237312"/>
            <a:ext cx="16433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PMO-MON-101</a:t>
            </a:r>
          </a:p>
        </p:txBody>
      </p:sp>
    </p:spTree>
    <p:extLst>
      <p:ext uri="{BB962C8B-B14F-4D97-AF65-F5344CB8AC3E}">
        <p14:creationId xmlns:p14="http://schemas.microsoft.com/office/powerpoint/2010/main" val="154185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9FFFB4-400D-1240-AB24-6F86C96D4DFB}" type="datetimeFigureOut">
              <a:rPr lang="en-US" dirty="0"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165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9" r:id="rId1"/>
    <p:sldLayoutId id="2147483860" r:id="rId2"/>
    <p:sldLayoutId id="2147483861" r:id="rId3"/>
    <p:sldLayoutId id="2147483862" r:id="rId4"/>
    <p:sldLayoutId id="2147483863" r:id="rId5"/>
    <p:sldLayoutId id="2147483864" r:id="rId6"/>
    <p:sldLayoutId id="2147483865" r:id="rId7"/>
    <p:sldLayoutId id="2147483866" r:id="rId8"/>
    <p:sldLayoutId id="2147483867" r:id="rId9"/>
    <p:sldLayoutId id="2147483868" r:id="rId10"/>
    <p:sldLayoutId id="2147483869" r:id="rId11"/>
    <p:sldLayoutId id="2147483870" r:id="rId12"/>
    <p:sldLayoutId id="2147483871" r:id="rId13"/>
    <p:sldLayoutId id="2147483872" r:id="rId14"/>
    <p:sldLayoutId id="2147483873" r:id="rId15"/>
    <p:sldLayoutId id="214748387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691680" y="620688"/>
            <a:ext cx="60203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A" sz="2800" b="1" dirty="0"/>
              <a:t>REUNION DE DEMOSTRACION Y</a:t>
            </a:r>
          </a:p>
          <a:p>
            <a:pPr algn="ctr"/>
            <a:r>
              <a:rPr lang="es-PA" sz="2800" b="1" dirty="0"/>
              <a:t>REVISION DEL SPRINT 4</a:t>
            </a:r>
            <a:endParaRPr lang="en-US" sz="2800" b="1" dirty="0"/>
          </a:p>
        </p:txBody>
      </p:sp>
      <p:sp>
        <p:nvSpPr>
          <p:cNvPr id="3" name="CuadroTexto 1"/>
          <p:cNvSpPr txBox="1"/>
          <p:nvPr/>
        </p:nvSpPr>
        <p:spPr>
          <a:xfrm>
            <a:off x="611560" y="4293096"/>
            <a:ext cx="792088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/>
              <a:t>Generación Óptima de Horarios Académicos para Currículos Flexibles</a:t>
            </a:r>
          </a:p>
          <a:p>
            <a:pPr algn="ctr"/>
            <a:endParaRPr lang="es-ES" sz="2800" b="1" dirty="0"/>
          </a:p>
          <a:p>
            <a:pPr algn="ctr"/>
            <a:r>
              <a:rPr lang="es-PE" sz="2800" b="1" dirty="0"/>
              <a:t>Sprint 4 (08/06/2026 </a:t>
            </a:r>
            <a:r>
              <a:rPr lang="es-PE" sz="2800" b="1"/>
              <a:t>- 06/07/2026</a:t>
            </a:r>
            <a:r>
              <a:rPr lang="es-PE" sz="2800" b="1" dirty="0"/>
              <a:t>)</a:t>
            </a:r>
            <a:endParaRPr lang="es-PA" sz="2800" b="1" dirty="0"/>
          </a:p>
        </p:txBody>
      </p:sp>
    </p:spTree>
    <p:extLst>
      <p:ext uri="{BB962C8B-B14F-4D97-AF65-F5344CB8AC3E}">
        <p14:creationId xmlns:p14="http://schemas.microsoft.com/office/powerpoint/2010/main" val="2558260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1412776"/>
            <a:ext cx="6372257" cy="17235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A" sz="2800" b="1" dirty="0"/>
              <a:t>AGENDA</a:t>
            </a:r>
          </a:p>
          <a:p>
            <a:endParaRPr lang="es-P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A" sz="2000" dirty="0"/>
              <a:t>Historias de Usuario completadas en este Sprint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A" sz="2000" dirty="0"/>
              <a:t>Demostración del trabajo completado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A" sz="2000" dirty="0"/>
              <a:t>Pendientes</a:t>
            </a:r>
          </a:p>
        </p:txBody>
      </p:sp>
    </p:spTree>
    <p:extLst>
      <p:ext uri="{BB962C8B-B14F-4D97-AF65-F5344CB8AC3E}">
        <p14:creationId xmlns:p14="http://schemas.microsoft.com/office/powerpoint/2010/main" val="2723424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9441C-5DE8-7F8D-6013-F6438C9BD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581A25-A726-F47A-7271-37D7FDC42F7C}"/>
              </a:ext>
            </a:extLst>
          </p:cNvPr>
          <p:cNvSpPr txBox="1"/>
          <p:nvPr/>
        </p:nvSpPr>
        <p:spPr>
          <a:xfrm>
            <a:off x="1331640" y="692696"/>
            <a:ext cx="74168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A" sz="2400" b="1" dirty="0"/>
              <a:t>Historias de Usuario completadas en este Sprint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1AF7CCA-081B-2BD9-9817-ACF2F85544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640" y="1650000"/>
            <a:ext cx="6660232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PE" altLang="es-PE" sz="2000" dirty="0"/>
              <a:t>SGDHA-11 – Optimizar carga de horarios (lazy loading + caché)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PE" altLang="es-PE" sz="2000" dirty="0"/>
              <a:t>SGDHA-14 – Exportar horario a PDF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PE" altLang="es-PE" sz="2000" dirty="0"/>
              <a:t>SGDHA-16 – Dashboard de Green Software (consumo de CO₂)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PE" altLang="es-PE" sz="2000" dirty="0"/>
              <a:t>SGDHA-15 – Pruebas unitarias (cobertura ≥70%), finalizada en cierre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5C720F8-E4A1-0B9C-CE0E-79CB5C8724D1}"/>
              </a:ext>
            </a:extLst>
          </p:cNvPr>
          <p:cNvSpPr txBox="1"/>
          <p:nvPr/>
        </p:nvSpPr>
        <p:spPr>
          <a:xfrm>
            <a:off x="1367644" y="3550000"/>
            <a:ext cx="6408712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/>
              <a:t>Pendientes (cierre del proyecto)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Completar cobertura de pruebas unitarias (SGDHA-15)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Elaborar Project Closeout y Lecciones Aprendidas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Actualizar revisión y retrospectiva de todos los sprints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Cerrar el 100% del backlog en Jira y entregar el PMV v1.0.0 </a:t>
            </a:r>
          </a:p>
        </p:txBody>
      </p:sp>
    </p:spTree>
    <p:extLst>
      <p:ext uri="{BB962C8B-B14F-4D97-AF65-F5344CB8AC3E}">
        <p14:creationId xmlns:p14="http://schemas.microsoft.com/office/powerpoint/2010/main" val="1994057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BE32E-18F8-3AD2-5AD2-1933B6027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3EB78F-5AE0-C759-C6FA-67D988EA342D}"/>
              </a:ext>
            </a:extLst>
          </p:cNvPr>
          <p:cNvSpPr txBox="1"/>
          <p:nvPr/>
        </p:nvSpPr>
        <p:spPr>
          <a:xfrm>
            <a:off x="1331640" y="692696"/>
            <a:ext cx="74168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s-ES" sz="2400" b="1" dirty="0"/>
              <a:t>Demostración del trabajo completado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0E5D48C-D328-00DD-E731-93C0B253E352}"/>
              </a:ext>
            </a:extLst>
          </p:cNvPr>
          <p:cNvSpPr txBox="1"/>
          <p:nvPr/>
        </p:nvSpPr>
        <p:spPr>
          <a:xfrm>
            <a:off x="1403648" y="1412776"/>
            <a:ext cx="669674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Carga optimizada de horarios: 3.2s </a:t>
            </a:r>
            <a:r>
              <a:rPr lang="es-ES" dirty="0" err="1"/>
              <a:t>→</a:t>
            </a:r>
            <a:r>
              <a:rPr lang="es-ES" dirty="0"/>
              <a:t> 0.8s mediante </a:t>
            </a:r>
            <a:r>
              <a:rPr lang="es-ES" dirty="0" err="1"/>
              <a:t>lazy</a:t>
            </a:r>
            <a:r>
              <a:rPr lang="es-ES" dirty="0"/>
              <a:t> </a:t>
            </a:r>
            <a:r>
              <a:rPr lang="es-ES" dirty="0" err="1"/>
              <a:t>loading</a:t>
            </a:r>
            <a:r>
              <a:rPr lang="es-ES" dirty="0"/>
              <a:t> y caché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Exportación de horarios a PDF, incluyendo aulas y docentes asignados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Dashboard de Green Software con métricas en tiempo real del consumo de CO₂ del sistema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Avance de pruebas unitarias (Cypress + </a:t>
            </a:r>
            <a:r>
              <a:rPr lang="es-ES" dirty="0" err="1"/>
              <a:t>pytest</a:t>
            </a:r>
            <a:r>
              <a:rPr lang="es-ES" dirty="0"/>
              <a:t>), cobertura 52% al cierre del sprint </a:t>
            </a:r>
          </a:p>
        </p:txBody>
      </p:sp>
    </p:spTree>
    <p:extLst>
      <p:ext uri="{BB962C8B-B14F-4D97-AF65-F5344CB8AC3E}">
        <p14:creationId xmlns:p14="http://schemas.microsoft.com/office/powerpoint/2010/main" val="2453682287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PT_Grupo Rey_Actualizada_1 [solo lectura]" id="{533A53B2-B7D8-4C76-81B7-5CC4BE25A0E7}" vid="{F4D2D2C8-2F4E-4B5A-9940-CB63F3447BE0}"/>
    </a:ext>
  </a:extLst>
</a:theme>
</file>

<file path=ppt/theme/theme2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PT_Grupo Rey_Actualizada_1 [solo lectura]" id="{533A53B2-B7D8-4C76-81B7-5CC4BE25A0E7}" vid="{502E3936-DC63-43D3-BC3E-45E2DBA39A5A}"/>
    </a:ext>
  </a:extLst>
</a:theme>
</file>

<file path=ppt/theme/theme3.xml><?xml version="1.0" encoding="utf-8"?>
<a:theme xmlns:a="http://schemas.openxmlformats.org/drawingml/2006/main" name="2_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PT_Grupo Rey_Actualizada_1 [solo lectura]" id="{533A53B2-B7D8-4C76-81B7-5CC4BE25A0E7}" vid="{F4D2D2C8-2F4E-4B5A-9940-CB63F3447BE0}"/>
    </a:ext>
  </a:extLst>
</a:theme>
</file>

<file path=ppt/theme/theme4.xml><?xml version="1.0" encoding="utf-8"?>
<a:theme xmlns:a="http://schemas.openxmlformats.org/drawingml/2006/main" name="1_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PT_Grupo Rey_Actualizada_1 [solo lectura]" id="{533A53B2-B7D8-4C76-81B7-5CC4BE25A0E7}" vid="{502E3936-DC63-43D3-BC3E-45E2DBA39A5A}"/>
    </a:ext>
  </a:extLst>
</a:theme>
</file>

<file path=ppt/theme/theme5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5124E24CAF14D46B2DD609ACFD84C07" ma:contentTypeVersion="0" ma:contentTypeDescription="Create a new document." ma:contentTypeScope="" ma:versionID="9971b3b784abbe199b171e233c6d3889">
  <xsd:schema xmlns:xsd="http://www.w3.org/2001/XMLSchema" xmlns:xs="http://www.w3.org/2001/XMLSchema" xmlns:p="http://schemas.microsoft.com/office/2006/metadata/properties" xmlns:ns2="01eb4bd6-a8ff-4439-b7eb-fe0a650fbd8a" targetNamespace="http://schemas.microsoft.com/office/2006/metadata/properties" ma:root="true" ma:fieldsID="9a36e787f936117f0a8f63b0cc0186e7" ns2:_="">
    <xsd:import namespace="01eb4bd6-a8ff-4439-b7eb-fe0a650fbd8a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eb4bd6-a8ff-4439-b7eb-fe0a650fbd8a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Identificador persistente" ma:description="Mantener el identificador al agregar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01eb4bd6-a8ff-4439-b7eb-fe0a650fbd8a">FWJASSSE55TN-275-89</_dlc_DocId>
    <_dlc_DocIdUrl xmlns="01eb4bd6-a8ff-4439-b7eb-fe0a650fbd8a">
      <Url>https://portal.smrey.net/areas/it/_layouts/15/DocIdRedir.aspx?ID=FWJASSSE55TN-275-89</Url>
      <Description>FWJASSSE55TN-275-89</Description>
    </_dlc_DocIdUrl>
  </documentManagement>
</p:properti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9CA153A-738A-46A0-99D9-95D181851BE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1eb4bd6-a8ff-4439-b7eb-fe0a650fbd8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60382EE-287C-4A6D-BC9A-747A508B6B29}">
  <ds:schemaRefs>
    <ds:schemaRef ds:uri="01eb4bd6-a8ff-4439-b7eb-fe0a650fbd8a"/>
    <ds:schemaRef ds:uri="http://schemas.microsoft.com/office/infopath/2007/PartnerControls"/>
    <ds:schemaRef ds:uri="http://purl.org/dc/dcmitype/"/>
    <ds:schemaRef ds:uri="http://purl.org/dc/terms/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B829AFC-3782-4D2D-8542-5E6C64387F0D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A7CCABAD-9D4B-42FB-80F1-5D032DA0579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9397</TotalTime>
  <Words>187</Words>
  <Application>Microsoft Office PowerPoint</Application>
  <PresentationFormat>Presentación en pantalla (4:3)</PresentationFormat>
  <Paragraphs>26</Paragraphs>
  <Slides>4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5</vt:i4>
      </vt:variant>
      <vt:variant>
        <vt:lpstr>Títulos de diapositiva</vt:lpstr>
      </vt:variant>
      <vt:variant>
        <vt:i4>4</vt:i4>
      </vt:variant>
    </vt:vector>
  </HeadingPairs>
  <TitlesOfParts>
    <vt:vector size="13" baseType="lpstr">
      <vt:lpstr>Arial</vt:lpstr>
      <vt:lpstr>Calibri</vt:lpstr>
      <vt:lpstr>Century Gothic</vt:lpstr>
      <vt:lpstr>Wingdings 3</vt:lpstr>
      <vt:lpstr>1_Tema de Office</vt:lpstr>
      <vt:lpstr>Diseño personalizado</vt:lpstr>
      <vt:lpstr>2_Tema de Office</vt:lpstr>
      <vt:lpstr>1_Diseño personalizado</vt:lpstr>
      <vt:lpstr>Espiral</vt:lpstr>
      <vt:lpstr>Presentación de PowerPoint</vt:lpstr>
      <vt:lpstr>Presentación de PowerPoint</vt:lpstr>
      <vt:lpstr>Presentación de PowerPoint</vt:lpstr>
      <vt:lpstr>Presentación de PowerPoint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hbravo-consultorge@innovacion.gob.pa</dc:creator>
  <cp:lastModifiedBy>Fabrizio Rafael Carpio</cp:lastModifiedBy>
  <cp:revision>255</cp:revision>
  <dcterms:created xsi:type="dcterms:W3CDTF">2012-03-27T19:44:46Z</dcterms:created>
  <dcterms:modified xsi:type="dcterms:W3CDTF">2026-06-21T22:49:01Z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0x010100A5124E24CAF14D46B2DD609ACFD84C07</vt:lpwstr>
  </property>
  <property fmtid="{D5CDD505-2E9C-101B-9397-08002B2CF9AE}" pid="3" name="_dlc_DocIdItemGuid">
    <vt:lpwstr>ad5b9eb1-3f56-4f57-9c5a-78d9eb8422d9</vt:lpwstr>
  </property>
</Properties>
</file>