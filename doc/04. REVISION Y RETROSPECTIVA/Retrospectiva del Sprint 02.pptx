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80" r:id="rId9"/>
  </p:sldMasterIdLst>
  <p:notesMasterIdLst>
    <p:notesMasterId r:id="rId16"/>
  </p:notesMasterIdLst>
  <p:sldIdLst>
    <p:sldId id="266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7962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387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458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646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987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75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11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319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6594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535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27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625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274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688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74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6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RETROSPECTIVA DEL SPRINT 2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863588" y="4005064"/>
            <a:ext cx="7416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PA" sz="2800" b="1" dirty="0"/>
          </a:p>
          <a:p>
            <a:pPr algn="ctr"/>
            <a:r>
              <a:rPr lang="es-PE" sz="2800" b="1" dirty="0"/>
              <a:t>Sprint </a:t>
            </a:r>
            <a:r>
              <a:rPr lang="es-PE" sz="2800" b="1"/>
              <a:t>2 (13/04/2026 - 05/05/2026</a:t>
            </a:r>
            <a:r>
              <a:rPr lang="es-PE" sz="2800" b="1" dirty="0"/>
              <a:t>)</a:t>
            </a:r>
            <a:br>
              <a:rPr lang="es-PE" sz="2800" dirty="0"/>
            </a:b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412776"/>
            <a:ext cx="498566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3200" b="1" dirty="0"/>
              <a:t>AGENDA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aprendimos?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Acciones a realizar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1C9EE34-501D-D3F1-01B3-425606205F71}"/>
              </a:ext>
            </a:extLst>
          </p:cNvPr>
          <p:cNvSpPr txBox="1"/>
          <p:nvPr/>
        </p:nvSpPr>
        <p:spPr>
          <a:xfrm>
            <a:off x="1331640" y="692696"/>
            <a:ext cx="351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¿Qué aprendimos?</a:t>
            </a:r>
            <a:endParaRPr lang="es-PE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94C877-A4FC-F9BD-A749-4AFE2E53BBD0}"/>
              </a:ext>
            </a:extLst>
          </p:cNvPr>
          <p:cNvSpPr txBox="1"/>
          <p:nvPr/>
        </p:nvSpPr>
        <p:spPr>
          <a:xfrm>
            <a:off x="1331640" y="1412776"/>
            <a:ext cx="6912768" cy="391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la parte Técnica, la integración de </a:t>
            </a:r>
            <a:r>
              <a:rPr lang="es-ES" dirty="0" err="1"/>
              <a:t>JWT</a:t>
            </a:r>
            <a:r>
              <a:rPr lang="es-ES" dirty="0"/>
              <a:t> con 4 roles distintos (admin, coordinador, docente, estudiante) tomó más tiempo del estimado; resolverlo con un </a:t>
            </a:r>
            <a:r>
              <a:rPr lang="es-ES" dirty="0" err="1"/>
              <a:t>spike</a:t>
            </a:r>
            <a:r>
              <a:rPr lang="es-ES" dirty="0"/>
              <a:t> técnico previo evitó retrasos mayores</a:t>
            </a:r>
          </a:p>
          <a:p>
            <a:pPr>
              <a:lnSpc>
                <a:spcPct val="150000"/>
              </a:lnSpc>
            </a:pPr>
            <a:r>
              <a:rPr lang="es-ES" dirty="0"/>
              <a:t>En la parte de Metodología, definir primero el orden de validación (prerrequisitos antes que créditos) evitó retrabajo en la lógica de negocio</a:t>
            </a:r>
          </a:p>
          <a:p>
            <a:pPr>
              <a:lnSpc>
                <a:spcPct val="150000"/>
              </a:lnSpc>
            </a:pP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Y con las herramientas, probar casos límite (6, 7 y 0 créditos) desde el inicio permitió detectar defectos antes del cierre del sprint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163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96DB-8D1D-394B-FFD2-6EBFBF8E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48D5820-690C-6A0A-ECD7-C6FD6079B0EB}"/>
              </a:ext>
            </a:extLst>
          </p:cNvPr>
          <p:cNvSpPr txBox="1"/>
          <p:nvPr/>
        </p:nvSpPr>
        <p:spPr>
          <a:xfrm>
            <a:off x="1331640" y="692696"/>
            <a:ext cx="5586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estamos haciendo bien?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0C849-99D9-B315-E77C-535576BFF8C7}"/>
              </a:ext>
            </a:extLst>
          </p:cNvPr>
          <p:cNvSpPr txBox="1"/>
          <p:nvPr/>
        </p:nvSpPr>
        <p:spPr>
          <a:xfrm>
            <a:off x="1331640" y="1412776"/>
            <a:ext cx="691276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completaron 4 de 4 historias de usuario (100% del Sprint 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Resolución ágil de la complejidad de JWT mediante spike técnico previo.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Buena coordinación backend-frontend para alinear el contrato de la API de horarios.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Corrección oportuna de los 3 defectos detectados (100% resueltos).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473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D98D-547B-9004-A2C9-FE384A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7606742-7E11-D1BC-6078-B1A46D729E4D}"/>
              </a:ext>
            </a:extLst>
          </p:cNvPr>
          <p:cNvSpPr txBox="1"/>
          <p:nvPr/>
        </p:nvSpPr>
        <p:spPr>
          <a:xfrm>
            <a:off x="1331640" y="692696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podemos hacer mejor?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0DF309-0436-2EBF-B615-14ED05A3D8CD}"/>
              </a:ext>
            </a:extLst>
          </p:cNvPr>
          <p:cNvSpPr txBox="1"/>
          <p:nvPr/>
        </p:nvSpPr>
        <p:spPr>
          <a:xfrm>
            <a:off x="1331640" y="1412776"/>
            <a:ext cx="763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Evitar que una sola persona concentre tareas complejas (caso JWT).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Compartir aprendizajes técnicos de los spikes con el equipo.</a:t>
            </a:r>
          </a:p>
          <a:p>
            <a:r>
              <a:rPr lang="es-ES" b="1" dirty="0"/>
              <a:t>Relaciones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Alinear el contrato de API entre backend y frontend desde el diseño.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Anticipar con usuarios los casos límite de validación antes de programar.</a:t>
            </a:r>
          </a:p>
          <a:p>
            <a:r>
              <a:rPr lang="es-ES" b="1" dirty="0"/>
              <a:t>Procesos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Distribuir mejor el trabajo: el Sprint 2 repitió la concentración de avance al final, como en el Sprint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Revisar el avance a mitad de sprint para detectar desbalances a tiempo.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Definir casos de prueba límite junto con los criterios de aceptación.</a:t>
            </a:r>
          </a:p>
          <a:p>
            <a:r>
              <a:rPr lang="es-ES" b="1" dirty="0"/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el Burndown Chart de forma proactiva durante el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Documentar en Jira los hallazgos de los </a:t>
            </a:r>
            <a:r>
              <a:rPr lang="es-ES" dirty="0" err="1"/>
              <a:t>spikes</a:t>
            </a:r>
            <a:r>
              <a:rPr lang="es-ES" dirty="0"/>
              <a:t> técnicos.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9D33-AA5A-C6BE-5B9F-2B05C2B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1423F9-5507-8BBA-8610-20511466BE7C}"/>
              </a:ext>
            </a:extLst>
          </p:cNvPr>
          <p:cNvSpPr txBox="1"/>
          <p:nvPr/>
        </p:nvSpPr>
        <p:spPr>
          <a:xfrm>
            <a:off x="1331640" y="692696"/>
            <a:ext cx="3539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Acciones a realizar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658B6-2106-5E09-1702-AE801E59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56792"/>
            <a:ext cx="6408712" cy="24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Establecer revisión de avance a mitad del Sprint 3.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Implementar reuniones diarias cortas (</a:t>
            </a:r>
            <a:r>
              <a:rPr lang="es-PE" altLang="es-PE" dirty="0" err="1"/>
              <a:t>Daily</a:t>
            </a:r>
            <a:r>
              <a:rPr lang="es-PE" altLang="es-PE" dirty="0"/>
              <a:t> Scrum).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Repartir la implementación del motor CSP (alta complejidad) en sub-tareas verificables.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Definir casos de prueba límite junto con los criterios de aceptación.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Documentar en Jira los hallazgos técnicos de los spikes para reutilizarlos. </a:t>
            </a:r>
          </a:p>
        </p:txBody>
      </p:sp>
    </p:spTree>
    <p:extLst>
      <p:ext uri="{BB962C8B-B14F-4D97-AF65-F5344CB8AC3E}">
        <p14:creationId xmlns:p14="http://schemas.microsoft.com/office/powerpoint/2010/main" val="287416103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Props1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9400</TotalTime>
  <Words>377</Words>
  <Application>Microsoft Office PowerPoint</Application>
  <PresentationFormat>Presentación en pantalla (4:3)</PresentationFormat>
  <Paragraphs>45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256</cp:revision>
  <dcterms:created xsi:type="dcterms:W3CDTF">2012-03-27T19:44:46Z</dcterms:created>
  <dcterms:modified xsi:type="dcterms:W3CDTF">2026-06-21T22:44:00Z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