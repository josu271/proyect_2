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  <p:sldMasterId id="2147483684" r:id="rId6"/>
    <p:sldMasterId id="2147483708" r:id="rId7"/>
    <p:sldMasterId id="2147483720" r:id="rId8"/>
    <p:sldMasterId id="2147483780" r:id="rId9"/>
  </p:sldMasterIdLst>
  <p:notesMasterIdLst>
    <p:notesMasterId r:id="rId16"/>
  </p:notesMasterIdLst>
  <p:sldIdLst>
    <p:sldId id="266" r:id="rId10"/>
    <p:sldId id="271" r:id="rId11"/>
    <p:sldId id="272" r:id="rId12"/>
    <p:sldId id="273" r:id="rId13"/>
    <p:sldId id="274" r:id="rId14"/>
    <p:sldId id="275" r:id="rId15"/>
  </p:sldIdLst>
  <p:sldSz cx="9144000" cy="6858000" type="screen4x3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0000"/>
    <a:srgbClr val="C41F04"/>
    <a:srgbClr val="E10000"/>
    <a:srgbClr val="CD0000"/>
    <a:srgbClr val="8E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5126" autoAdjust="0"/>
  </p:normalViewPr>
  <p:slideViewPr>
    <p:cSldViewPr>
      <p:cViewPr varScale="1">
        <p:scale>
          <a:sx n="55" d="100"/>
          <a:sy n="55" d="100"/>
        </p:scale>
        <p:origin x="81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66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22397-19D0-43F4-884F-DD192CCA8686}" type="datetimeFigureOut">
              <a:rPr lang="es-PA" smtClean="0"/>
              <a:t>06/21/2026</a:t>
            </a:fld>
            <a:endParaRPr lang="es-P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0ED58-E70D-4DA0-B0A1-68F16CF969F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9689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0ED58-E70D-4DA0-B0A1-68F16CF969FA}" type="slidenum">
              <a:rPr lang="es-PA" smtClean="0"/>
              <a:t>1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36764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1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17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5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7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9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81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36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3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2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434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43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4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34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1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934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82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2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608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5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7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31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40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50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62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96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918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5398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2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893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45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94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830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11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0837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194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278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06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799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5290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877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74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208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79628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5387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4581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6462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9987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6752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2112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5319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6594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2535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7279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6250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627447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56880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54749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86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9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PMO-MON-102</a:t>
            </a:r>
          </a:p>
        </p:txBody>
      </p:sp>
    </p:spTree>
    <p:extLst>
      <p:ext uri="{BB962C8B-B14F-4D97-AF65-F5344CB8AC3E}">
        <p14:creationId xmlns:p14="http://schemas.microsoft.com/office/powerpoint/2010/main" val="220828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5577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15418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65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91680" y="620688"/>
            <a:ext cx="6020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/>
              <a:t>RETROSPECTIVA DEL SPRINT 4</a:t>
            </a:r>
            <a:endParaRPr lang="en-US" sz="2800" b="1" dirty="0"/>
          </a:p>
        </p:txBody>
      </p:sp>
      <p:sp>
        <p:nvSpPr>
          <p:cNvPr id="3" name="CuadroTexto 1"/>
          <p:cNvSpPr txBox="1"/>
          <p:nvPr/>
        </p:nvSpPr>
        <p:spPr>
          <a:xfrm>
            <a:off x="863588" y="4005064"/>
            <a:ext cx="74168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Generación Óptima de Horarios Académicos para Currículos Flexibles</a:t>
            </a:r>
          </a:p>
          <a:p>
            <a:pPr algn="ctr"/>
            <a:endParaRPr lang="es-PA" sz="2800" b="1" dirty="0"/>
          </a:p>
          <a:p>
            <a:pPr algn="ctr"/>
            <a:r>
              <a:rPr lang="es-PE" sz="2800" b="1" dirty="0"/>
              <a:t>Sprint 4 (08/06/2026 </a:t>
            </a:r>
            <a:r>
              <a:rPr lang="es-PE" sz="2800" b="1"/>
              <a:t>- 06/07/2026</a:t>
            </a:r>
            <a:r>
              <a:rPr lang="es-PE" sz="2800" b="1" dirty="0"/>
              <a:t>)</a:t>
            </a:r>
            <a:br>
              <a:rPr lang="es-PE" sz="2800" dirty="0"/>
            </a:br>
            <a:endParaRPr lang="es-PA" sz="2800" b="1" dirty="0"/>
          </a:p>
        </p:txBody>
      </p:sp>
    </p:spTree>
    <p:extLst>
      <p:ext uri="{BB962C8B-B14F-4D97-AF65-F5344CB8AC3E}">
        <p14:creationId xmlns:p14="http://schemas.microsoft.com/office/powerpoint/2010/main" val="255826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1412776"/>
            <a:ext cx="4985660" cy="38472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3200" b="1" dirty="0"/>
              <a:t>AGENDA</a:t>
            </a:r>
          </a:p>
          <a:p>
            <a:endParaRPr lang="es-P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Qué aprendimos?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Qué estamos haciendo bien?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Qué podemos hacer mejor?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Personas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Relaciones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Procesos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Herramientas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Acciones a realizar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23424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1C9EE34-501D-D3F1-01B3-425606205F71}"/>
              </a:ext>
            </a:extLst>
          </p:cNvPr>
          <p:cNvSpPr txBox="1"/>
          <p:nvPr/>
        </p:nvSpPr>
        <p:spPr>
          <a:xfrm>
            <a:off x="1331640" y="692696"/>
            <a:ext cx="35157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altLang="es-PE" sz="2800" b="1" dirty="0"/>
              <a:t>¿Qué aprendimos?</a:t>
            </a:r>
            <a:endParaRPr lang="es-PE" sz="28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294C877-A4FC-F9BD-A749-4AFE2E53BBD0}"/>
              </a:ext>
            </a:extLst>
          </p:cNvPr>
          <p:cNvSpPr txBox="1"/>
          <p:nvPr/>
        </p:nvSpPr>
        <p:spPr>
          <a:xfrm>
            <a:off x="1331640" y="1412776"/>
            <a:ext cx="6912768" cy="391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En la parte Técnica, aplicar </a:t>
            </a:r>
            <a:r>
              <a:rPr lang="es-ES" dirty="0" err="1"/>
              <a:t>lazy</a:t>
            </a:r>
            <a:r>
              <a:rPr lang="es-ES" dirty="0"/>
              <a:t> </a:t>
            </a:r>
            <a:r>
              <a:rPr lang="es-ES" dirty="0" err="1"/>
              <a:t>loading</a:t>
            </a:r>
            <a:r>
              <a:rPr lang="es-ES" dirty="0"/>
              <a:t> y caché redujo el tiempo de carga de horarios de 3.2s a 0.8s (-75%), superando el objetivo de ≤1.5s</a:t>
            </a:r>
          </a:p>
          <a:p>
            <a:pPr>
              <a:lnSpc>
                <a:spcPct val="150000"/>
              </a:lnSpc>
            </a:pPr>
            <a:r>
              <a:rPr lang="es-ES" dirty="0"/>
              <a:t>En la parte de Metodología, dejar las pruebas unitarias para el último sprint fue un error: la cobertura quedó en 52% (objetivo ≥70%) y la historia debió cerrarse en la fase de cierre del proyecto</a:t>
            </a:r>
          </a:p>
          <a:p>
            <a:pPr>
              <a:lnSpc>
                <a:spcPct val="150000"/>
              </a:lnSpc>
            </a:pPr>
            <a:endParaRPr lang="es-ES" dirty="0"/>
          </a:p>
          <a:p>
            <a:pPr>
              <a:lnSpc>
                <a:spcPct val="150000"/>
              </a:lnSpc>
            </a:pPr>
            <a:r>
              <a:rPr lang="es-ES" dirty="0"/>
              <a:t>Y con las herramientas, el módulo de Green Software permitió medir el consumo de CO₂ del propio sistema, un diferencial valioso para la sustentación final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8163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096DB-8D1D-394B-FFD2-6EBFBF8E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48D5820-690C-6A0A-ECD7-C6FD6079B0EB}"/>
              </a:ext>
            </a:extLst>
          </p:cNvPr>
          <p:cNvSpPr txBox="1"/>
          <p:nvPr/>
        </p:nvSpPr>
        <p:spPr>
          <a:xfrm>
            <a:off x="1331640" y="692696"/>
            <a:ext cx="5586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altLang="es-PE" sz="2800" b="1" dirty="0"/>
              <a:t>¿</a:t>
            </a:r>
            <a:r>
              <a:rPr lang="es-PA" sz="2800" b="1" dirty="0"/>
              <a:t>Qué estamos haciendo bien?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400C849-99D9-B315-E77C-535576BFF8C7}"/>
              </a:ext>
            </a:extLst>
          </p:cNvPr>
          <p:cNvSpPr txBox="1"/>
          <p:nvPr/>
        </p:nvSpPr>
        <p:spPr>
          <a:xfrm>
            <a:off x="1331640" y="1412776"/>
            <a:ext cx="6912768" cy="294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Se completaron 3 de 4 historias de usuario del sprint; la restante (pruebas) se cerró en la fase de cierre del proyecto.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Reducción del 75% en el tiempo de carga de horarios (3.2s → 0.8s), superando el objetivo.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Implementación exitosa del módulo de Green Software (consumo de CO₂).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Corrección oportuna de los 3 defectos detectados (100% resueltos).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54737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2D98D-547B-9004-A2C9-FE384A9AA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7606742-7E11-D1BC-6078-B1A46D729E4D}"/>
              </a:ext>
            </a:extLst>
          </p:cNvPr>
          <p:cNvSpPr txBox="1"/>
          <p:nvPr/>
        </p:nvSpPr>
        <p:spPr>
          <a:xfrm>
            <a:off x="1331640" y="692696"/>
            <a:ext cx="5323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altLang="es-PE" sz="2800" b="1" dirty="0"/>
              <a:t>¿</a:t>
            </a:r>
            <a:r>
              <a:rPr lang="es-PA" sz="2800" b="1" dirty="0"/>
              <a:t>Qué podemos hacer mejor?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70DF309-0436-2EBF-B615-14ED05A3D8CD}"/>
              </a:ext>
            </a:extLst>
          </p:cNvPr>
          <p:cNvSpPr txBox="1"/>
          <p:nvPr/>
        </p:nvSpPr>
        <p:spPr>
          <a:xfrm>
            <a:off x="1331640" y="1412776"/>
            <a:ext cx="76328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Personas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Asignar pruebas unitarias desde el primer sprint, no al final.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Reconocer el esfuerzo del cierre como trabajo de todo el equipo.</a:t>
            </a:r>
          </a:p>
          <a:p>
            <a:r>
              <a:rPr lang="es-ES" b="1" dirty="0"/>
              <a:t>Relaciones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Coordinar con QA desde el inicio, no solo en el último sprint.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Compartir los resultados del módulo Green Software con el equipo.</a:t>
            </a:r>
          </a:p>
          <a:p>
            <a:r>
              <a:rPr lang="es-ES" b="1" dirty="0"/>
              <a:t>Procesos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Distribuir las pruebas unitarias en todos los sprints, no al final.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Actualizar la documentación de revisión y retrospectiva al cierre de cada sprint.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Medir métricas de rendimiento (carga, CO₂) desde el inicio.</a:t>
            </a:r>
          </a:p>
          <a:p>
            <a:r>
              <a:rPr lang="es-ES" b="1" dirty="0"/>
              <a:t>Herramientas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Integrar Cypress y pytest desde el Sprint 1, con metas por sprint.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Usar el dashboard de Green Software como referencia continua.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7773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C9D33-AA5A-C6BE-5B9F-2B05C2B7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11423F9-5507-8BBA-8610-20511466BE7C}"/>
              </a:ext>
            </a:extLst>
          </p:cNvPr>
          <p:cNvSpPr txBox="1"/>
          <p:nvPr/>
        </p:nvSpPr>
        <p:spPr>
          <a:xfrm>
            <a:off x="1331640" y="692696"/>
            <a:ext cx="35397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2800" b="1" dirty="0"/>
              <a:t>Acciones a realizar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6658B6-2106-5E09-1702-AE801E59B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1556792"/>
            <a:ext cx="6408712" cy="2498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Documentar el cierre formal del proyecto (Project Closeout y Lessons Learned).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Completar la historia de pruebas unitarias (SGDHA-15) en la fase de cierre del proyecto.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Planificar pruebas unitarias desde el primer sprint en futuros proyectos.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Mantener actualizada la documentación de revisión y retrospectiva sprint a sprint.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Compartir las lecciones aprendidas del módulo de Green Software con el equipo. </a:t>
            </a:r>
          </a:p>
        </p:txBody>
      </p:sp>
    </p:spTree>
    <p:extLst>
      <p:ext uri="{BB962C8B-B14F-4D97-AF65-F5344CB8AC3E}">
        <p14:creationId xmlns:p14="http://schemas.microsoft.com/office/powerpoint/2010/main" val="2874161032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3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4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5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124E24CAF14D46B2DD609ACFD84C07" ma:contentTypeVersion="0" ma:contentTypeDescription="Create a new document." ma:contentTypeScope="" ma:versionID="9971b3b784abbe199b171e233c6d3889">
  <xsd:schema xmlns:xsd="http://www.w3.org/2001/XMLSchema" xmlns:xs="http://www.w3.org/2001/XMLSchema" xmlns:p="http://schemas.microsoft.com/office/2006/metadata/properties" xmlns:ns2="01eb4bd6-a8ff-4439-b7eb-fe0a650fbd8a" targetNamespace="http://schemas.microsoft.com/office/2006/metadata/properties" ma:root="true" ma:fieldsID="9a36e787f936117f0a8f63b0cc0186e7" ns2:_="">
    <xsd:import namespace="01eb4bd6-a8ff-4439-b7eb-fe0a650fbd8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b4bd6-a8ff-4439-b7eb-fe0a650fbd8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entificador persistente" ma:description="Mantener el identificador al agregar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1eb4bd6-a8ff-4439-b7eb-fe0a650fbd8a">FWJASSSE55TN-275-90</_dlc_DocId>
    <_dlc_DocIdUrl xmlns="01eb4bd6-a8ff-4439-b7eb-fe0a650fbd8a">
      <Url>https://portal.smrey.net/areas/it/_layouts/15/DocIdRedir.aspx?ID=FWJASSSE55TN-275-90</Url>
      <Description>FWJASSSE55TN-275-90</Description>
    </_dlc_DocIdUrl>
  </documentManagement>
</p:properties>
</file>

<file path=customXml/itemProps1.xml><?xml version="1.0" encoding="utf-8"?>
<ds:datastoreItem xmlns:ds="http://schemas.openxmlformats.org/officeDocument/2006/customXml" ds:itemID="{00AB431C-329B-4A82-A797-4BEB23E904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b4bd6-a8ff-4439-b7eb-fe0a650fbd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1A4983-4A93-4B3A-8900-9EB737E827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403FF3-E664-4B75-AE82-10E83625546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2EA82C02-33B1-44E3-8205-C641671E37A6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01eb4bd6-a8ff-4439-b7eb-fe0a650fbd8a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9400</TotalTime>
  <Words>414</Words>
  <Application>Microsoft Office PowerPoint</Application>
  <PresentationFormat>Presentación en pantalla (4:3)</PresentationFormat>
  <Paragraphs>45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6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1_Tema de Office</vt:lpstr>
      <vt:lpstr>Diseño personalizado</vt:lpstr>
      <vt:lpstr>2_Tema de Office</vt:lpstr>
      <vt:lpstr>1_Diseño personalizado</vt:lpstr>
      <vt:lpstr>Espiral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hbravo-consultorge@innovacion.gob.pa</dc:creator>
  <cp:lastModifiedBy>Fabrizio Rafael Carpio</cp:lastModifiedBy>
  <cp:revision>256</cp:revision>
  <dcterms:created xsi:type="dcterms:W3CDTF">2012-03-27T19:44:46Z</dcterms:created>
  <dcterms:modified xsi:type="dcterms:W3CDTF">2026-06-21T22:46:44Z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0x010100A5124E24CAF14D46B2DD609ACFD84C07</vt:lpwstr>
  </property>
  <property fmtid="{D5CDD505-2E9C-101B-9397-08002B2CF9AE}" pid="3" name="_dlc_DocIdItemGuid">
    <vt:lpwstr>7586f2f4-d20d-492b-9868-1bee41335ca5</vt:lpwstr>
  </property>
</Properties>
</file>