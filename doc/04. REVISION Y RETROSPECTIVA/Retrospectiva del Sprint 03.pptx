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80" r:id="rId9"/>
  </p:sldMasterIdLst>
  <p:notesMasterIdLst>
    <p:notesMasterId r:id="rId16"/>
  </p:notesMasterIdLst>
  <p:sldIdLst>
    <p:sldId id="266" r:id="rId10"/>
    <p:sldId id="271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7962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387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458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6462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987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6752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11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5319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6594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535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727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625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2744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688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5474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86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PMO-MON-102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RETROSPECTIVA DEL SPRINT 3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863588" y="4005064"/>
            <a:ext cx="74168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PA" sz="2800" b="1" dirty="0"/>
          </a:p>
          <a:p>
            <a:pPr algn="ctr"/>
            <a:r>
              <a:rPr lang="es-PE" sz="2800" b="1" dirty="0"/>
              <a:t>Sprint 3 (06/05/2026 - 07/06/2026)</a:t>
            </a:r>
            <a:br>
              <a:rPr lang="es-PE" sz="2800" dirty="0"/>
            </a:b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1412776"/>
            <a:ext cx="4985660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3200" b="1" dirty="0"/>
              <a:t>AGENDA</a:t>
            </a:r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aprendimos?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estamos haciendo bien?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podemos hacer mejor?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Personas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Relaciones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Procesos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Herramientas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Acciones a realizar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1C9EE34-501D-D3F1-01B3-425606205F71}"/>
              </a:ext>
            </a:extLst>
          </p:cNvPr>
          <p:cNvSpPr txBox="1"/>
          <p:nvPr/>
        </p:nvSpPr>
        <p:spPr>
          <a:xfrm>
            <a:off x="1331640" y="692696"/>
            <a:ext cx="3515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¿Qué aprendimos?</a:t>
            </a:r>
            <a:endParaRPr lang="es-PE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94C877-A4FC-F9BD-A749-4AFE2E53BBD0}"/>
              </a:ext>
            </a:extLst>
          </p:cNvPr>
          <p:cNvSpPr txBox="1"/>
          <p:nvPr/>
        </p:nvSpPr>
        <p:spPr>
          <a:xfrm>
            <a:off x="1331640" y="1412776"/>
            <a:ext cx="6912768" cy="391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la parte Técnica, el motor </a:t>
            </a:r>
            <a:r>
              <a:rPr lang="es-ES" dirty="0" err="1"/>
              <a:t>CSP</a:t>
            </a:r>
            <a:r>
              <a:rPr lang="es-ES" dirty="0"/>
              <a:t> requirió 3 iteraciones de refinamiento antes de cumplir el objetivo de ≤50s; activar primero un </a:t>
            </a:r>
            <a:r>
              <a:rPr lang="es-ES" dirty="0" err="1"/>
              <a:t>fallback</a:t>
            </a:r>
            <a:r>
              <a:rPr lang="es-ES" dirty="0"/>
              <a:t> simple (backtracking puro) permitió avanzar sin bloquear el sprint</a:t>
            </a:r>
          </a:p>
          <a:p>
            <a:pPr>
              <a:lnSpc>
                <a:spcPct val="150000"/>
              </a:lnSpc>
            </a:pPr>
            <a:r>
              <a:rPr lang="es-ES" dirty="0"/>
              <a:t>En la parte de Metodología, la revisión de avance a mitad de sprint permitió detectar a tiempo el retraso en la historia más compleja y reasignar esfuerzo</a:t>
            </a:r>
          </a:p>
          <a:p>
            <a:pPr>
              <a:lnSpc>
                <a:spcPct val="150000"/>
              </a:lnSpc>
            </a:pP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Y con las herramientas, indexar las tablas de restricciones en PostgreSQL redujo significativamente el tiempo de generación de horarios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8163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96DB-8D1D-394B-FFD2-6EBFBF8E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48D5820-690C-6A0A-ECD7-C6FD6079B0EB}"/>
              </a:ext>
            </a:extLst>
          </p:cNvPr>
          <p:cNvSpPr txBox="1"/>
          <p:nvPr/>
        </p:nvSpPr>
        <p:spPr>
          <a:xfrm>
            <a:off x="1331640" y="692696"/>
            <a:ext cx="5586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estamos haciendo bien?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00C849-99D9-B315-E77C-535576BFF8C7}"/>
              </a:ext>
            </a:extLst>
          </p:cNvPr>
          <p:cNvSpPr txBox="1"/>
          <p:nvPr/>
        </p:nvSpPr>
        <p:spPr>
          <a:xfrm>
            <a:off x="1331640" y="1412776"/>
            <a:ext cx="691276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completaron 3 de 3 historias de usuario (100%), incluyendo la de mayor complejidad del proyecto (motor CSP, 8 SP).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El motor CSP alcanzó un tiempo de generación de 32s en promedio, muy por debajo del umbral de 50s.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Buena coordinación entre el motor CSP (backend) y el evaluador de calidad para validar horarios óptimos.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Corrección oportuna de los 4 defectos detectados (100% resueltos).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5473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D98D-547B-9004-A2C9-FE384A9A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7606742-7E11-D1BC-6078-B1A46D729E4D}"/>
              </a:ext>
            </a:extLst>
          </p:cNvPr>
          <p:cNvSpPr txBox="1"/>
          <p:nvPr/>
        </p:nvSpPr>
        <p:spPr>
          <a:xfrm>
            <a:off x="1331640" y="692696"/>
            <a:ext cx="532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podemos hacer mejor?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0DF309-0436-2EBF-B615-14ED05A3D8CD}"/>
              </a:ext>
            </a:extLst>
          </p:cNvPr>
          <p:cNvSpPr txBox="1"/>
          <p:nvPr/>
        </p:nvSpPr>
        <p:spPr>
          <a:xfrm>
            <a:off x="1331640" y="1412776"/>
            <a:ext cx="7632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Personas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Apoyar a quien lleva la historia más compleja del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Documentar decisiones de diseño del motor CSP para el equipo.</a:t>
            </a:r>
          </a:p>
          <a:p>
            <a:r>
              <a:rPr lang="es-ES" b="1" dirty="0"/>
              <a:t>Relaciones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Validar con usuarios los criterios de calidad antes de programar.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Coordinar temprano los límites de permisos entre roles.</a:t>
            </a:r>
          </a:p>
          <a:p>
            <a:r>
              <a:rPr lang="es-ES" b="1" dirty="0"/>
              <a:t>Procesos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Mantener la revisión a mitad de sprint en historias complejas.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Definir un plan de </a:t>
            </a:r>
            <a:r>
              <a:rPr lang="es-ES" dirty="0" err="1"/>
              <a:t>fallback</a:t>
            </a:r>
            <a:r>
              <a:rPr lang="es-ES" dirty="0"/>
              <a:t> desde el inicio en historias técnicamente riesgosas.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Probar control de acceso con todos los roles desde el primer commit.</a:t>
            </a:r>
          </a:p>
          <a:p>
            <a:r>
              <a:rPr lang="es-ES" b="1" dirty="0"/>
              <a:t>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el Burndown Chart para anticipar riesgo en historias grandes.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Documentar en Jira las iteraciones del motor CSP y sus resultados.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77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9D33-AA5A-C6BE-5B9F-2B05C2B7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1423F9-5507-8BBA-8610-20511466BE7C}"/>
              </a:ext>
            </a:extLst>
          </p:cNvPr>
          <p:cNvSpPr txBox="1"/>
          <p:nvPr/>
        </p:nvSpPr>
        <p:spPr>
          <a:xfrm>
            <a:off x="1331640" y="692696"/>
            <a:ext cx="3539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Acciones a realizar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658B6-2106-5E09-1702-AE801E59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556792"/>
            <a:ext cx="6408712" cy="24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Mantener la revisión de avance a mitad de sprint para historias complejas.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Definir un plan de </a:t>
            </a:r>
            <a:r>
              <a:rPr lang="es-PE" altLang="es-PE" dirty="0" err="1"/>
              <a:t>fallback</a:t>
            </a:r>
            <a:r>
              <a:rPr lang="es-PE" altLang="es-PE" dirty="0"/>
              <a:t> en historias técnicamente riesgosas.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Probar control de acceso con todos los roles desde el primer commit.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Usar el Burndown Chart para anticipar riesgo en historias de alto esfuerzo.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Documentar en Jira las iteraciones del motor CSP y sus resultados. </a:t>
            </a:r>
          </a:p>
        </p:txBody>
      </p:sp>
    </p:spTree>
    <p:extLst>
      <p:ext uri="{BB962C8B-B14F-4D97-AF65-F5344CB8AC3E}">
        <p14:creationId xmlns:p14="http://schemas.microsoft.com/office/powerpoint/2010/main" val="287416103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Props1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9400</TotalTime>
  <Words>390</Words>
  <Application>Microsoft Office PowerPoint</Application>
  <PresentationFormat>Presentación en pantalla (4:3)</PresentationFormat>
  <Paragraphs>45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256</cp:revision>
  <dcterms:created xsi:type="dcterms:W3CDTF">2012-03-27T19:44:46Z</dcterms:created>
  <dcterms:modified xsi:type="dcterms:W3CDTF">2026-06-21T22:45:50Z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